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960120" cy="9601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271" y="7982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91640" y="6583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Candidozyma (Candida) auris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sets the thermal limit?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6118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WHO critical-priority pathogen grows where its closest relatives die — and why the answer is not metabolic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074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715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isolates, 7 lineages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224528" y="5074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22–44 °C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224528" y="5715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temperatures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5074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5715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findings + a model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heat is a barrier. C. auris crossed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" y="2377"/>
            <a:ext cx="4389" cy="43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6868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~6% per °C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fungal species are excluded for every degree of body temperature above ambient (Bergman &amp; Casadevall 2010)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434340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" y="2377"/>
            <a:ext cx="4389" cy="438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63440" y="2057400"/>
            <a:ext cx="868680" cy="86868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297" y="2283257"/>
            <a:ext cx="416966" cy="41696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66344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critical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66344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four fungi in the top priority tier for research and public health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8138160" y="173736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0" y="0"/>
            <a:ext cx="9144" cy="9144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7" y="2377"/>
            <a:ext cx="4389" cy="4389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458200" y="2057400"/>
            <a:ext cx="868680" cy="86868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4057" y="2283257"/>
            <a:ext cx="416966" cy="41696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45820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Grows at fever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8458200" y="3657600"/>
            <a:ext cx="2971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thrives on skin, on hospital surfaces, and inside a febrile host — where most relatives cannot</a:t>
            </a:r>
            <a:endParaRPr lang="en-US" sz="1450" dirty="0"/>
          </a:p>
        </p:txBody>
      </p:sp>
      <p:sp>
        <p:nvSpPr>
          <p:cNvPr id="25" name="Text 17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assay, every isolate, twelve temperatures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2088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9280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Dissolved-oxygen respirometry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3500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isolates · 7 lineages · 5 wells each · 22–44 °C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50" y="3414370"/>
            <a:ext cx="395021" cy="3950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32186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+ respiration, hierarchically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67588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fits, isolates nested within clades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740250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5445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Carbon-use efficiency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500176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per cell — scale-free where it counts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15200" y="1828800"/>
            <a:ext cx="4297680" cy="4160520"/>
          </a:xfrm>
          <a:prstGeom prst="roundRect">
            <a:avLst>
              <a:gd name="adj" fmla="val 1978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58952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PANEL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24688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auris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clades I–IV · 3 isolates each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589520" y="33101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haemulonii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589520" y="4151376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duobushaemulonii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isolates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7589520" y="499262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600" b="1" i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parapsilosis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isolates · outgroup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· FIGURE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turns over; respiration does not</a:t>
            </a:r>
            <a:endParaRPr lang="en-US" sz="3000" dirty="0"/>
          </a:p>
        </p:txBody>
      </p:sp>
      <p:pic>
        <p:nvPicPr>
          <p:cNvPr id="4" name="Image 0" descr="img/fig1.png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457200" y="1600200"/>
            <a:ext cx="594360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920240"/>
            <a:ext cx="3931920" cy="4023360"/>
          </a:xfrm>
          <a:prstGeom prst="roundRect">
            <a:avLst>
              <a:gd name="adj" fmla="val 209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0" y="2148840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5" y="23390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046720" y="30175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Carbon efficiency peaks below body temperature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8046720" y="379476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peaks ~33–36 °C, respiration keeps rising.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carbon-use efficiency peaks at 26–31 °C — below 37 °C in every group.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scale-free: no assumption about cell number or carbon content.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· FIGURE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fever carries a carbon cost — and it differs</a:t>
            </a:r>
            <a:endParaRPr lang="en-US" sz="3000" dirty="0"/>
          </a:p>
        </p:txBody>
      </p:sp>
      <p:pic>
        <p:nvPicPr>
          <p:cNvPr id="4" name="Image 0" descr="img/fig2.png">    </p:cNvPr>
          <p:cNvPicPr>
            <a:picLocks noChangeAspect="1"/>
          </p:cNvPicPr>
          <p:nvPr/>
        </p:nvPicPr>
        <p:blipFill>
          <a:blip r:embed="rId1"/>
          <a:srcRect l="-5644" r="-5644" t="0" b="0"/>
          <a:stretch/>
        </p:blipFill>
        <p:spPr>
          <a:xfrm>
            <a:off x="457200" y="1554480"/>
            <a:ext cx="512064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92024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0" y="2148840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515" y="23390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32320" y="301752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Warm-adapted taxa pay less to run a fever</a:t>
            </a:r>
            <a:endParaRPr lang="en-US" sz="1900" dirty="0"/>
          </a:p>
        </p:txBody>
      </p:sp>
      <p:sp>
        <p:nvSpPr>
          <p:cNvPr id="9" name="Text 5"/>
          <p:cNvSpPr txBox="1"/>
          <p:nvPr/>
        </p:nvSpPr>
        <p:spPr>
          <a:xfrm>
            <a:off x="713232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1.34×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4480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auris Clade IV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40 °C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9418320" y="3840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3.13×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9418320" y="4480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parapsilosis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 40 °C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5349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thermotolerant the taxon, the cheaper its fever.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· FIGURE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Thermotolerance does not follow the family tree</a:t>
            </a:r>
            <a:endParaRPr lang="en-US" sz="3000" dirty="0"/>
          </a:p>
        </p:txBody>
      </p:sp>
      <p:pic>
        <p:nvPicPr>
          <p:cNvPr id="4" name="Image 0" descr="img/fig3.png">    </p:cNvPr>
          <p:cNvPicPr>
            <a:picLocks noChangeAspect="1"/>
          </p:cNvPicPr>
          <p:nvPr/>
        </p:nvPicPr>
        <p:blipFill>
          <a:blip r:embed="rId1"/>
          <a:srcRect l="0" r="0" t="-78" b="-78"/>
          <a:stretch/>
        </p:blipFill>
        <p:spPr>
          <a:xfrm>
            <a:off x="457200" y="1691640"/>
            <a:ext cx="74066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920240"/>
            <a:ext cx="3566160" cy="4023360"/>
          </a:xfrm>
          <a:prstGeom prst="roundRect">
            <a:avLst>
              <a:gd name="adj" fmla="val 2308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0" y="2148840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675" y="2339035"/>
            <a:ext cx="351130" cy="35113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12480" y="301752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auris stands apart from near-identical kin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3931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2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pPr indent="0" marL="0">
              <a:buNone/>
            </a:pPr>
            <a:r>
              <a:rPr lang="en-US" sz="1800" dirty="0">
                <a:solidFill>
                  <a:srgbClr val="C9D3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indent="0" marL="0">
              <a:buNone/>
            </a:pPr>
            <a:r>
              <a:rPr lang="en-US" sz="3000" b="1" dirty="0">
                <a:solidFill>
                  <a:srgbClr val="4D9D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3/8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57200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growing at 40 °C: C. auris vs its relatives (risk difference +0.63)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· COMPARATIVE GENOMICS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genome does not predict the phenotype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99.4–100%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whole-proteome identity across the four C. auris clades — yet they differ up to 2× in growth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14884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36281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number of every canonical heat-response gene (HSP90, trehalose, calcineurin…) across 10 genomes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66160" cy="38404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214884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70" y="23628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582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25× closer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845820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clades differ in phenotype at 25× less divergence than the nearest species split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performance is evolutionarily labile — it is not written in gene content.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· 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in, a thermal growth curve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657600" cy="3886200"/>
          </a:xfrm>
          <a:prstGeom prst="roundRect">
            <a:avLst>
              <a:gd name="adj" fmla="val 2000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DATABASES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" y="2286000"/>
            <a:ext cx="146304" cy="1463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21671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Genomes · 4 species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4505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NCBI Datasets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3232" y="2944368"/>
            <a:ext cx="146304" cy="1463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28254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networks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108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iRV973 · iDC1003 (BioModels)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602736"/>
            <a:ext cx="146304" cy="1463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34838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 rates (kcat)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37673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DLKcat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4261104"/>
            <a:ext cx="146304" cy="1463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14223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Tm &amp; Topt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87552" y="44256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Seq2Tm / Seq2Topt (ESM2)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4919472"/>
            <a:ext cx="146304" cy="1463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" y="48006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medium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87552" y="50840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06240" y="3429000"/>
            <a:ext cx="502920" cy="411480"/>
          </a:xfrm>
          <a:prstGeom prst="rightArrow">
            <a:avLst/>
          </a:prstGeom>
          <a:solidFill>
            <a:srgbClr val="C7CFD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0600" y="1691640"/>
            <a:ext cx="3429000" cy="3886200"/>
          </a:xfrm>
          <a:prstGeom prst="roundRect">
            <a:avLst>
              <a:gd name="adj" fmla="val 2133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02920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2240280"/>
            <a:ext cx="2971800" cy="548640"/>
          </a:xfrm>
          <a:prstGeom prst="roundRect">
            <a:avLst>
              <a:gd name="adj" fmla="val 8333"/>
            </a:avLst>
          </a:prstGeom>
          <a:solidFill>
            <a:srgbClr val="1E3157"/>
          </a:solidFill>
          <a:ln/>
        </p:spPr>
      </p:sp>
      <p:sp>
        <p:nvSpPr>
          <p:cNvPr id="25" name="Shape 23"/>
          <p:cNvSpPr/>
          <p:nvPr/>
        </p:nvSpPr>
        <p:spPr>
          <a:xfrm>
            <a:off x="5138928" y="2359152"/>
            <a:ext cx="310896" cy="310896"/>
          </a:xfrm>
          <a:prstGeom prst="ellipse">
            <a:avLst/>
          </a:prstGeom>
          <a:solidFill>
            <a:srgbClr val="4D9DC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138928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559552" y="2258568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network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029200" y="2898648"/>
            <a:ext cx="2971800" cy="548640"/>
          </a:xfrm>
          <a:prstGeom prst="roundRect">
            <a:avLst>
              <a:gd name="adj" fmla="val 8333"/>
            </a:avLst>
          </a:prstGeom>
          <a:solidFill>
            <a:srgbClr val="1E3157"/>
          </a:solidFill>
          <a:ln/>
        </p:spPr>
      </p:sp>
      <p:sp>
        <p:nvSpPr>
          <p:cNvPr id="29" name="Shape 27"/>
          <p:cNvSpPr/>
          <p:nvPr/>
        </p:nvSpPr>
        <p:spPr>
          <a:xfrm>
            <a:off x="5138928" y="3017520"/>
            <a:ext cx="310896" cy="310896"/>
          </a:xfrm>
          <a:prstGeom prst="ellipse">
            <a:avLst/>
          </a:prstGeom>
          <a:solidFill>
            <a:srgbClr val="E0821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38928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559552" y="2916936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protein cost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29200" y="3557016"/>
            <a:ext cx="2971800" cy="548640"/>
          </a:xfrm>
          <a:prstGeom prst="roundRect">
            <a:avLst>
              <a:gd name="adj" fmla="val 8333"/>
            </a:avLst>
          </a:prstGeom>
          <a:solidFill>
            <a:srgbClr val="1E3157"/>
          </a:solidFill>
          <a:ln/>
        </p:spPr>
      </p:sp>
      <p:sp>
        <p:nvSpPr>
          <p:cNvPr id="33" name="Shape 31"/>
          <p:cNvSpPr/>
          <p:nvPr/>
        </p:nvSpPr>
        <p:spPr>
          <a:xfrm>
            <a:off x="5138928" y="3675888"/>
            <a:ext cx="310896" cy="310896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138928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59552" y="357530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 a(T)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0" y="43434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protein budget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46451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MW/(k</a:t>
            </a:r>
            <a:pPr indent="0" marL="0">
              <a:buNone/>
            </a:pPr>
            <a:r>
              <a:rPr lang="en-US" sz="800" b="1" baseline="-40000" dirty="0">
                <a:solidFill>
                  <a:srgbClr val="E08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</a:t>
            </a:r>
            <a:pPr indent="0" marL="0">
              <a:buNone/>
            </a:pPr>
            <a:r>
              <a:rPr lang="en-US" sz="1300" b="1" dirty="0">
                <a:solidFill>
                  <a:srgbClr val="E082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·a(T))·v ≤ P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hotter enzyme → slower → costs more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21040" y="3429000"/>
            <a:ext cx="502920" cy="411480"/>
          </a:xfrm>
          <a:prstGeom prst="rightArrow">
            <a:avLst/>
          </a:prstGeom>
          <a:solidFill>
            <a:srgbClr val="C7CFDA"/>
          </a:solidFill>
          <a:ln/>
        </p:spPr>
      </p:sp>
      <p:sp>
        <p:nvSpPr>
          <p:cNvPr id="40" name="Shape 38"/>
          <p:cNvSpPr/>
          <p:nvPr/>
        </p:nvSpPr>
        <p:spPr>
          <a:xfrm>
            <a:off x="8915400" y="1691640"/>
            <a:ext cx="2788920" cy="3886200"/>
          </a:xfrm>
          <a:prstGeom prst="roundRect">
            <a:avLst>
              <a:gd name="adj" fmla="val 2623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914400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189720" y="3977640"/>
            <a:ext cx="2194560" cy="0"/>
          </a:xfrm>
          <a:prstGeom prst="line">
            <a:avLst/>
          </a:prstGeom>
          <a:noFill/>
          <a:ln w="12700">
            <a:solidFill>
              <a:srgbClr val="B9C3D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89720" y="2971800"/>
            <a:ext cx="0" cy="1005840"/>
          </a:xfrm>
          <a:prstGeom prst="line">
            <a:avLst/>
          </a:prstGeom>
          <a:noFill/>
          <a:ln w="12700">
            <a:solidFill>
              <a:srgbClr val="B9C3D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89720" y="3977640"/>
            <a:ext cx="329184" cy="-27432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18904" y="3703320"/>
            <a:ext cx="329184" cy="-256032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48088" y="3447288"/>
            <a:ext cx="329184" cy="-18288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77272" y="3264408"/>
            <a:ext cx="329184" cy="-9144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506456" y="3172968"/>
            <a:ext cx="263347" cy="73152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769803" y="3246120"/>
            <a:ext cx="219456" cy="27432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89259" y="3520440"/>
            <a:ext cx="175565" cy="27432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164824" y="3794760"/>
            <a:ext cx="219456" cy="182880"/>
          </a:xfrm>
          <a:prstGeom prst="line">
            <a:avLst/>
          </a:prstGeom>
          <a:noFill/>
          <a:ln w="25400">
            <a:solidFill>
              <a:srgbClr val="14243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44000" y="4160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 temperature, per species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9144000" y="4800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Figure 4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0" y="5166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parameters  </a:t>
            </a:r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(σ, w, P, scale) fit on C. auris, then frozen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80644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3E6E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77240" y="58978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fixed one real error (a reaction running backwards in one species, corrected before Figure 4), then made three unrealistic shortcuts more lifelike. The model’s answer barely moved.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enzyme- &amp; temperature-constrained metabolic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67128"/>
            <a:ext cx="603504" cy="603504"/>
          </a:xfrm>
          <a:prstGeom prst="ellipse">
            <a:avLst/>
          </a:prstGeom>
          <a:solidFill>
            <a:srgbClr val="4D9DC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756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Metabolic network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5328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reaction the genome encodes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38728"/>
            <a:ext cx="603504" cy="603504"/>
          </a:xfrm>
          <a:prstGeom prst="ellipse">
            <a:avLst/>
          </a:prstGeom>
          <a:solidFill>
            <a:srgbClr val="E082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387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Enzyme cost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9044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reaction needs protein; one shared budget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6035040" cy="1188720"/>
          </a:xfrm>
          <a:prstGeom prst="roundRect">
            <a:avLst>
              <a:gd name="adj" fmla="val 6154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910328"/>
            <a:ext cx="603504" cy="603504"/>
          </a:xfrm>
          <a:prstGeom prst="ellipse">
            <a:avLst/>
          </a:prstGeom>
          <a:solidFill>
            <a:srgbClr val="C050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9103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8188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2760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enzyme has an optimum &amp; a melting point, from sequence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949440" y="1874520"/>
            <a:ext cx="4663440" cy="4069080"/>
          </a:xfrm>
          <a:prstGeom prst="roundRect">
            <a:avLst>
              <a:gd name="adj" fmla="val 2022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23760" y="2103120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55" y="229331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223760" y="29718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heat kills growth, in the model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7033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enzymes work slower, so they cost more protein.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budget fills up.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has to fall.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on C. auris alone, then frozen — the other three are pure prediction.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· THE REALITY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tried ten explanations. None survives a reality check.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114800"/>
          </a:xfrm>
          <a:prstGeom prst="roundRect">
            <a:avLst>
              <a:gd name="adj" fmla="val 2000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713232" cy="713232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00" y="2197120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121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test asks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68680" y="2807208"/>
            <a:ext cx="310896" cy="310896"/>
          </a:xfrm>
          <a:prstGeom prst="ellipse">
            <a:avLst/>
          </a:prstGeom>
          <a:solidFill>
            <a:srgbClr val="4D9DC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2807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2734056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possible explanation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302666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“C. auris enzymes are more heat-stable”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465576"/>
            <a:ext cx="310896" cy="310896"/>
          </a:xfrm>
          <a:prstGeom prst="ellipse">
            <a:avLst/>
          </a:prstGeom>
          <a:solidFill>
            <a:srgbClr val="4D9DC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3392424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how big a change it needs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298448" y="3685032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C. auris grow hot while relatives die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123944"/>
            <a:ext cx="310896" cy="310896"/>
          </a:xfrm>
          <a:prstGeom prst="ellipse">
            <a:avLst/>
          </a:prstGeom>
          <a:solidFill>
            <a:srgbClr val="4D9DC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4050792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that to real cells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98448" y="4343400"/>
            <a:ext cx="4617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required change anything we actually measure?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22960" y="4956048"/>
            <a:ext cx="4983480" cy="777240"/>
          </a:xfrm>
          <a:prstGeom prst="roundRect">
            <a:avLst>
              <a:gd name="adj" fmla="val 7059"/>
            </a:avLst>
          </a:prstGeom>
          <a:solidFill>
            <a:srgbClr val="F3E6E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05840" y="5029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of 10 could work at all — and needed changes 3–34× bigger than anything real cells show.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09360" y="178308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83680" y="2011680"/>
            <a:ext cx="713232" cy="713232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120" y="2197120"/>
            <a:ext cx="342351" cy="34235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424928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the model unfair to itself?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6629400" y="27432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from published models with a few unrealistic shortcuts. We checked each one: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6629400" y="3401568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“perpetual-energy” loop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6967728" y="367588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energy from nothing — switched off (it barely did anything)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6629400" y="4059936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breathed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967728" y="433425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building itself from free amino acids — tightened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6629400" y="471830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sharply proteins break with heat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6967728" y="499262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too gradual — set to how real proteins behave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6629400" y="5440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shortcut made the model kinder to heat — and it still failed.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 · FIGURE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fits C. auris — and misses every relative</a:t>
            </a:r>
            <a:endParaRPr lang="en-US" sz="3000" dirty="0"/>
          </a:p>
        </p:txBody>
      </p:sp>
      <p:pic>
        <p:nvPicPr>
          <p:cNvPr id="4" name="Image 0" descr="img/fig4.png">    </p:cNvPr>
          <p:cNvPicPr>
            <a:picLocks noChangeAspect="1"/>
          </p:cNvPicPr>
          <p:nvPr/>
        </p:nvPicPr>
        <p:blipFill>
          <a:blip r:embed="rId1"/>
          <a:srcRect l="-4908" r="-4908" t="0" b="0"/>
          <a:stretch/>
        </p:blipFill>
        <p:spPr>
          <a:xfrm>
            <a:off x="411480" y="1600200"/>
            <a:ext cx="7955280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49640" y="1920240"/>
            <a:ext cx="3200400" cy="4114800"/>
          </a:xfrm>
          <a:prstGeom prst="roundRect">
            <a:avLst>
              <a:gd name="adj" fmla="val 2571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0" y="2148840"/>
            <a:ext cx="713232" cy="713232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680" y="2334280"/>
            <a:ext cx="342351" cy="3423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78240" y="30175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parameters simply don’t differ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379476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reproduce reality the model needs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°C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difference in enzyme melting point.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differ by </a:t>
            </a:r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 °C.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PUNCHLINE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cells die long before the model says they should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3977640"/>
            <a:ext cx="9966960" cy="0"/>
          </a:xfrm>
          <a:prstGeom prst="line">
            <a:avLst/>
          </a:prstGeom>
          <a:noFill/>
          <a:ln w="25400">
            <a:solidFill>
              <a:srgbClr val="526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0472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8468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960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9956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7332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328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4192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2188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40308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304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064240" y="3904488"/>
            <a:ext cx="0" cy="146304"/>
          </a:xfrm>
          <a:prstGeom prst="line">
            <a:avLst/>
          </a:prstGeom>
          <a:noFill/>
          <a:ln w="19050">
            <a:solidFill>
              <a:srgbClr val="5260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744200" y="41056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5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49272" y="3822192"/>
            <a:ext cx="310896" cy="310896"/>
          </a:xfrm>
          <a:prstGeom prst="ellipse">
            <a:avLst/>
          </a:prstGeom>
          <a:solidFill>
            <a:srgbClr val="4D9DC0"/>
          </a:solidFill>
          <a:ln w="25400">
            <a:solidFill>
              <a:srgbClr val="14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4560" y="4434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relatives die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°C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17872" y="3822192"/>
            <a:ext cx="310896" cy="310896"/>
          </a:xfrm>
          <a:prstGeom prst="ellipse">
            <a:avLst/>
          </a:prstGeom>
          <a:solidFill>
            <a:srgbClr val="E08214"/>
          </a:solidFill>
          <a:ln w="25400">
            <a:solidFill>
              <a:srgbClr val="1424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93160" y="4434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auris dies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°C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247632" y="3822192"/>
            <a:ext cx="310896" cy="310896"/>
          </a:xfrm>
          <a:prstGeom prst="ellipse">
            <a:avLst/>
          </a:prstGeom>
          <a:solidFill>
            <a:srgbClr val="C0503A"/>
          </a:solidFill>
          <a:ln w="25400">
            <a:solidFill>
              <a:srgbClr val="1424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22920" y="44348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~53 °C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73320" y="2971800"/>
            <a:ext cx="44297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973320" y="2971800"/>
            <a:ext cx="0" cy="749808"/>
          </a:xfrm>
          <a:prstGeom prst="line">
            <a:avLst/>
          </a:prstGeom>
          <a:noFill/>
          <a:ln w="12700">
            <a:solidFill>
              <a:srgbClr val="52607A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403080" y="2971800"/>
            <a:ext cx="0" cy="749808"/>
          </a:xfrm>
          <a:prstGeom prst="line">
            <a:avLst/>
          </a:prstGeom>
          <a:noFill/>
          <a:ln w="12700">
            <a:solidFill>
              <a:srgbClr val="52607A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5816600" y="24688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9–14 °C gap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097280" y="5029200"/>
            <a:ext cx="9966960" cy="1280160"/>
          </a:xfrm>
          <a:prstGeom prst="roundRect">
            <a:avLst>
              <a:gd name="adj" fmla="val 5714"/>
            </a:avLst>
          </a:prstGeom>
          <a:solidFill>
            <a:srgbClr val="1D31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5257800"/>
            <a:ext cx="822960" cy="82296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5570" y="5471770"/>
            <a:ext cx="395021" cy="395021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2468880" y="521208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a modelling artefact.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after we made the model as realistic as possible — and every fix made it more forgiving of heat — its predicted limit barely moved. Metabolism never set the limit; something else does.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knows — and the hole in the middle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4D9DC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2475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48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know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983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 study (Xiao 2025): pyruvate &amp; oxidative-stress control help heat survival — but in all three species, and only up to 41 °C.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Endothermy is a real barrier (Casadevall).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C. auris lipidome is catalogued — but only at 30 °C (Shahi 2020).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yeast to heat hits sterols (Caspeta 2014); Cryptococcus hits stress signalling — no single answer.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875" y="224759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2148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 one has done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971800"/>
            <a:ext cx="475488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membranes, proteostasis and mitochondria across the same thermal gradient, in the same cells.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which system fails FIRST at the thermal limit — answered in animals, never in fungi.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the growth limit itself — shown any intervention lets a relative grow hotter, or pushed past 41 °C to where cells die.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· IN DETAIL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suspects: each studied, none decisive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SYSTEM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572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KNOWN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2412187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173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F1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11880" y="2075688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C. auris lipidome — 582 species — is catalogued (Shahi 2020). Evolving yeast to heat converges on sterol change (Caspeta 2014).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26680" y="1965960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1424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09560" y="2075688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measured at 30 °C, never across the thermal gradient or at the death point.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630168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" y="3820363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17320" y="38313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Proteostasis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429000" y="3374136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F1F4F8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11880" y="3483864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melting points mapped across the tree of life by thermal proteome profiling (Jarzab 2020). Hsp90 well studied in Candida.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726680" y="3374136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1424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909560" y="3483864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Candida pathogen in that atlas; no measure of which proteins actually aggregate inside a cell at its limit.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5038344"/>
            <a:ext cx="731520" cy="73152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" y="5228539"/>
            <a:ext cx="351130" cy="35113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17320" y="523951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Mitochondria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3429000" y="4782312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F1F4F8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611880" y="4892040"/>
            <a:ext cx="38404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animals, mitochondrial capacity sets the thermal limit. Xiao 2025 links heat survival to oxidative-stress control (shared across species); our data show respiration rising as growth collapses.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7726680" y="4782312"/>
            <a:ext cx="3977640" cy="1298448"/>
          </a:xfrm>
          <a:prstGeom prst="roundRect">
            <a:avLst>
              <a:gd name="adj" fmla="val 4225"/>
            </a:avLst>
          </a:prstGeom>
          <a:solidFill>
            <a:srgbClr val="14243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7909560" y="4892040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 in fungi as the limiting system; our lineage screen hints at it but does not prove it.</a:t>
            </a:r>
            <a:endParaRPr lang="en-US" sz="125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profiled all three across one thermal gradient — or asked which fails first.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process that sets the limit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069080"/>
          </a:xfrm>
          <a:prstGeom prst="roundRect">
            <a:avLst>
              <a:gd name="adj" fmla="val 2308"/>
            </a:avLst>
          </a:prstGeom>
          <a:solidFill>
            <a:srgbClr val="14243D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822960" cy="82296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3170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limit &amp; the order of failure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434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D3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death temperature, then watch whether membranes, protein quality control or mitochondria fail first.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66160" cy="40690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410" y="231709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which system controls it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3434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 each in turn; measure absolute protein allocation and carbon content across temperature.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138160" y="1828800"/>
            <a:ext cx="3566160" cy="406908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/>
          <a:effectLst>
            <a:outerShdw sx="100000" sy="100000" kx="0" ky="0" algn="bl" rotWithShape="0" blurRad="76200" dist="38100" dir="5400000">
              <a:srgbClr val="88888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2103120"/>
            <a:ext cx="822960" cy="82296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2170" y="231709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063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337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8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evolution answer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43434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C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the relatives to higher heat; see if independent lines converge — and on what.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548872" y="63550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0" cy="91440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04672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4592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9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story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945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auris grows where its relatives die — and metabolism cannot explain why.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41605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13 °C gap between what the model can explain and where cells actually die points to an unmapped failure process. We will find it.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577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08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membranes  ·  proteostasis  ·  mitochondria  —  which fails first?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2026-09-05T13:41:07Z</dcterms:created>
  <dcterms:modified xsi:type="dcterms:W3CDTF">2026-09-05T13:41:07Z</dcterms:modified>
</cp:coreProperties>
</file>